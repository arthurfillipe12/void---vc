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dia/tarde, professor. Meu nome é Arthur Fillipe e vou apresentar o trabalho da 2ª Avaliação de Visão Computacional.</a:t>
            </a:r>
          </a:p>
          <a:p/>
          <a:p>
            <a:r>
              <a:t>O título é 'Avaliação Temporal Automatizada para o Framework VOID' — onde VOID significa Video Object and Interaction Deletion, um framework open-source da Netflix Research lançado em 2025. O trabalho propõe e valida um módulo de avaliação quantitativa integrado a esse framework, utilizando quatro métricas de coerência temporal. Vou mostrar os resultados obtidos em hardware real no Google Colab, com validação por degradações sintéticas e também por remoção de objeto via inpainting OpenCV — esse último ponto foi adicionado diretamente com base no feedback da VA1.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VOID, da Netflix Research, é o estado da arte em remoção de objetos em vídeo. Diferente de métodos que processam frame a frame, o VOID modela explicitamente interações físicas — sombras, reflexos, contato entre objetos — e usa modelos de difusão de vídeo para gerar o resultado de forma temporalmente coerente. O pipeline funciona em duas passagens de refinamento, onde a segunda passagem parte do resultado da primeira para melhorar a coerência global.</a:t>
            </a:r>
          </a:p>
          <a:p/>
          <a:p>
            <a:r>
              <a:t>Apesar da qualidade visual, existe uma lacuna importante: a avaliação dos vídeos gerados é basicamente subjetiva. Isso dificulta comparar variantes de configuração, reproduzir experimentos e comunicar ganhos em número. Nosso objetivo foi preencher essa lacuna com um módulo de instrumentação de baixo acoplamento.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4 métricas são calculadas entre cada par de frames consecutivos — Ft e Ft+1 — e depois agregadas como média, desvio padrão, mínimo e máximo ao longo de todos os pares do vídeo.</a:t>
            </a:r>
          </a:p>
          <a:p/>
          <a:p>
            <a:r>
              <a:t>O LPIPS usa redes neurais para medir distância perceptual — ele captura o que o olho humano percebe, como manchas e inconsistências de textura. O Flow Consistency L1 estima o fluxo óptico (movimento entre frames) e verifica se ao propagar o frame anterior com esse fluxo conseguimos reconstruir o frame atual — picos indicam regiões com artefatos de inpainting. O PSNR mede erro pixel a pixel em escala logarítmica. O SSIM combina luminância, contraste e estrutura em janelas locais, sendo mais sensível a bordas e texturas do que o PSNR.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módulo foi projetado como camada de instrumentação — ele não altera nenhuma linha do código de difusão do VOID. A integração ocorre nos pontos onde o tensor de vídeo já está disponível após a inferência. Isso garante zero risco de regressão no modelo generativo.</a:t>
            </a:r>
          </a:p>
          <a:p/>
          <a:p>
            <a:r>
              <a:t>A classe TemporalMetricsEvaluator recebe um tensor de vídeo em vários formatos e devolve um dicionário estruturado com resumo estatístico e métricas por par de frames. O modo fallback é importante: em ambientes onde o RAFT não está disponível — como o Colab gratuito — o módulo usa automaticamente o fluxo de Farneback do OpenCV, mantendo a funcionalidade intacta. O vídeo de exemplo é um 4K real de uma mão mexendo em um copo com bebida.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são as métricas medidas no vídeo original sem nenhuma modificação — o nosso baseline. Os 12 frames mostrados na grade acima são exatamente as imagens processadas, já redimensionadas para 256×256 pixels. Dá pra ver que é um vídeo de uma mão mexendo num copo com bebida — tem bastante movimento, especialmente no final da sequência.</a:t>
            </a:r>
          </a:p>
          <a:p/>
          <a:p>
            <a:r>
              <a:t>O LPIPS médio de 0.023 está bem abaixo do limiar de percepção humana, que a literatura estima entre 0.05 e 0.10. O Flow L1 de 0.0055 é praticamente zero — o fluxo óptico está muito coerente. O PSNR de 28.61 dB e o SSIM de 0.928 confirmam boa continuidade entre frames. O par de índice 10 foi o único marcado como anomalia — ele corresponde a uma transição mais brusca no final da janela, o que é esperado nesse tipo de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validar as métricas sem precisar do pipeline de difusão completo — que exige mais de 11 GB de VRAM, indisponível no Colab gratuito — aplicamos 8 cenários de degradação sintética controlada ao vídeo original e verificamos se as métricas respondem de forma coerente.</a:t>
            </a:r>
          </a:p>
          <a:p/>
          <a:p>
            <a:r>
              <a:t>O ruído gaussiano é o mais severo: no nível máximo sigma=0.10, o LPIPS sobe 6.7 vezes e o SSIM despenca de 0.928 para apenas 0.134 — as métricas detectam claramente a degradação. A compressão JPEG tem impacto intermediário. O blur é o caso contrário: ao suavizar variações de alta frequência entre frames adjacentes, frames consecutivos ficam mais parecidos entre si, então PSNR e SSIM sobem. Isso é fisicamente coerente — não é uma falha das métricas, é o comportamento correto.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gráfico mostra os valores de cada métrica medidos ao longo dos 11 pares de frames do vídeo baseline — sem nenhuma degradação. O heatmap embaixo mostra o erro de fluxo óptico por par e por posição espacial na imagem, onde as regiões mais quentes indicam maior inconsistência de movimento.</a:t>
            </a:r>
          </a:p>
          <a:p/>
          <a:p>
            <a:r>
              <a:t>O que é importante notar é que os picos de LPIPS no final (par 10) correspondem exatamente ao momento de maior movimento da mão no vídeo — o que confirma que a métrica está capturando variação real, não ruído de medição. O painel da direita resume o comportamento de cada tipo de degradação: cada perturbação produz uma assinatura diferente nas 4 métricas, o que permite diagnosticar o tipo de problema em um vídeo processado.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slide responde diretamente ao principal ponto do feedback da VA1: usar resultados de deleção de objetos para avaliar se as métricas estão coerentes. Como o VOID completo não roda no hardware disponível, usamos o cv2.inpaint com o algoritmo TELEA como substituto funcional — ele remove a região mascarada preenchendo com informação das bordas.</a:t>
            </a:r>
          </a:p>
          <a:p/>
          <a:p>
            <a:r>
              <a:t>A máscara cobriu a mão em movimento no centro-inferior do frame. O resultado é visível na linha inferior dos frames: a mão foi removida e substituída por textura do fundo. O LPIPS e o Flow L1 subiram ligeiramente — o módulo detectou a modificação perceptual. O PSNR e o SSIM subiram porque a mão em movimento foi substituída por textura estática — frames consecutivos ficam mais parecidos nessa região. Esse é exatamente o padrão esperado quando um objeto dinâmico é removido: maior similaridade estrutural na região modificada.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análise multi-segmento divide o clipe completo em janelas de 8 frames e avalia cada uma separadamente. O objetivo é mostrar que as métricas variam de forma coerente com o conteúdo real do vídeo — não são apenas valores constantes.</a:t>
            </a:r>
          </a:p>
          <a:p/>
          <a:p>
            <a:r>
              <a:t>Nos segmentos iniciais, onde a mão está fazendo movimentos mais amplos, os valores de LPIPS e Flow L1 são mais altos. Nos segmentos do meio, onde o movimento é mais estável, PSNR e SSIM sobem. Essa variação natural é exatamente o comportamento esperado e confirma que o módulo está funcionando como instrumento de medição real, não apenas calculando números. Esse tipo de análise será fundamental quando o VOID completo puder ser executado — para comparar Pass 1 e Pass 2 em diferentes regiões temporais do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concluir: entregamos 5 contribuições principais. O módulo temporal_metrics.py está implementado, testado em hardware real e pronto para uso no VOID assim que hardware adequado estiver disponível. A validação foi feita em dois eixos: degradações sintéticas confirmam que as métricas respondem corretamente a variações de qualidade, e o inpainting OpenCV confirma que elas detectam modificações reais de deleção de objetos — respondendo diretamente ao feedback da VA1.</a:t>
            </a:r>
          </a:p>
          <a:p/>
          <a:p>
            <a:r>
              <a:t>A limitação de hardware é real mas esperada — os modelos de difusão do VOID são grandes. A solução para trabalhos futuros é usar Colab Pro com A100 ou Kaggle, que têm mais de 24 GB de VRAM.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5303520"/>
            <a:ext cx="11777472" cy="36576"/>
          </a:xfrm>
          <a:prstGeom prst="rect">
            <a:avLst/>
          </a:prstGeom>
          <a:solidFill>
            <a:srgbClr val="378AD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780"/>
                </a:solidFill>
              </a:rPr>
              <a:t>VISÃO COMPUTACIONAL — UFRPE  ·  2ª AVALIAÇÃO (VA2)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Avaliação Temporal
Automatizada para o
Framework 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5D4F4"/>
                </a:solidFill>
              </a:rPr>
              <a:t>Implementação, Validação e Análise de Sensibilidade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2651760" cy="34747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03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Visão Computacional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749039"/>
            <a:ext cx="2651760" cy="34747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3803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Métricas Temporais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749039"/>
            <a:ext cx="2651760" cy="34747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803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Inpainting de Vídeo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749039"/>
            <a:ext cx="2651760" cy="34747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3803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VOID / Netflix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Arthur Fillipe de Lira Aleixo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780"/>
                </a:solidFill>
              </a:rPr>
              <a:t>Departamento de Computação  ·  Universidade Federal Rural de Pernambuco  ·  Recife, Brasil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B7EB"/>
                </a:solidFill>
              </a:rPr>
              <a:t>github.com/ArthurFillipe12/VOID---VC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 problema: avaliação subjetiva no 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Por que precisamos de métricas quantitativas?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394960" cy="246888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O que é o VOID?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Remoção de objetos em vídeo com inpainting fisicamente plausível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Pipeline de 2 passagens com modelos de difusão (CogVideoX)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VLM raciocina sobre quais regiões remover e como reconstruir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Modela sombras, reflexos e contato físico entre objetos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Pesos: ≈ 11 GB VRAM por passagem — GPU alta de gama necessária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17320"/>
            <a:ext cx="5879592" cy="2468880"/>
          </a:xfrm>
          <a:prstGeom prst="rect">
            <a:avLst/>
          </a:prstGeom>
          <a:solidFill>
            <a:srgbClr val="FCEBEB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27048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32D2D"/>
                </a:solidFill>
              </a:rPr>
              <a:t>A lacuna identificada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56052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Avaliação majoritariamente subjetiva e visual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Difícil reproduzir experimentos quantitativamente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Sem comparação objetiva entre variantes de configuração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Sem módulo padronizado de baixo acoplamento no repositório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Impossível comunicar ganhos metodológicos em número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069080"/>
            <a:ext cx="54864" cy="68580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" y="4069080"/>
            <a:ext cx="11494008" cy="685800"/>
          </a:xfrm>
          <a:prstGeom prst="rect">
            <a:avLst/>
          </a:prstGeom>
          <a:solidFill>
            <a:srgbClr val="E6F1F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60520"/>
            <a:ext cx="11228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5FA5"/>
                </a:solidFill>
              </a:rPr>
              <a:t>Objetivo: implementar e validar um módulo temporal_metrics.py integrado ao VOID — sem alterar o núcleo gerativo — que calcule 4 métricas complementares, exporte JSON/CSV e gere relatório HTML automaticamente.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As 4 métricas implementadas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Cada uma captura um aspecto diferente da coerência temporal — são complementares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742432" cy="2377440"/>
          </a:xfrm>
          <a:prstGeom prst="rect">
            <a:avLst/>
          </a:prstGeom>
          <a:solidFill>
            <a:srgbClr val="FCEBEB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32D2D"/>
                </a:solidFill>
              </a:rPr>
              <a:t>LPIPS Temporal  ↓ melhor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Distância perceptual entre frames Ft e Ft+1 usando ativações internas de AlexNet ponderadas por camada.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4681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LPIPS(Ft,Ft+1) = Σl wl · ‖φ̂l(Ft) − φ̂l(Ft+1)‖²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32D2D"/>
                </a:solidFill>
              </a:rPr>
              <a:t>Baseline: 0.0234  (abaixo do limiar humano ~0.05–0.10)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742432" cy="237744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Flow Consistency L1  ↓ melhor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Propaga Ft com fluxo óptico estimado (RAFT ou Farneback) e mede erro L1 de reconstrução em relação a Ft+1.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54681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Flow_L1(t) = (1/|V|) Σ(x,y)∈V |W(Ft,u)(x,y) − Ft+1(x,y)|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A7517"/>
                </a:solidFill>
              </a:rPr>
              <a:t>Baseline: 0.0055  (próximo de zero — fluxo coerente)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5742432" cy="2377440"/>
          </a:xfrm>
          <a:prstGeom prst="rect">
            <a:avLst/>
          </a:prstGeom>
          <a:solidFill>
            <a:srgbClr val="EAF3DE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PSNR Consecutivo  ↑ melhor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Similaridade pixel a pixel entre frames adjacentes. Sensível a ruído de alta frequência mas menos a distorções perceptuais.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54681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PSNR(Ft,Ft+1) = 10 · log₁₀(1 / MSE(Ft, Ft+1))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Baseline: 28.61 dB  (acima de 28 dB = qualidade razoável)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31920"/>
            <a:ext cx="5742432" cy="237744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SSIM Consecutivo  ↑ melhor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Similaridade estrutural local: combina luminância, contraste e estrutura em janelas deslizantes. Complementa o PSNR.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892040"/>
            <a:ext cx="54681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SSIM = (2μxμy+c1)(2σxy+c2) / (μx²+μy²+c1)(σx²+σy²+c2)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Baseline: 0.9277  (preservação estrutural consistente — máx=1)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Arquitetura do módulo e fluxo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temporal_metrics.py — camada de instrumentação de baixo acoplamento sobre o VOID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77840" cy="32461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Componentes de temporal_metrics.py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TemporalMetricsEvaluator — classe principal com evaluate(), detect_anomalies(), write()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normalize_video_for_metrics — aceita [B,C,T,H,W] ou [C,T,H,W], normaliza para [0,1]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detect_anomalies — LPIPS &gt; z desvios padrão → par marcado como outlier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Fallback automático: RAFT indisponível → usa Farneback (OpenCV) sem quebrar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write() → JSON com summary + pairs + metadados + CSV por par de frames</a:t>
            </a:r>
          </a:p>
          <a:p>
            <a:pPr>
              <a:spcBef>
                <a:spcPts val="250"/>
              </a:spcBef>
            </a:pPr>
            <a:r>
              <a:rPr sz="1200" b="0">
                <a:solidFill>
                  <a:srgbClr val="1A1A2E"/>
                </a:solidFill>
              </a:rPr>
              <a:t>• format_summary() → linha de log legível para terminais e relatórios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788152" cy="32461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Fluxo experimental (7 etapas)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28800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84708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653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Carga de lime/input_video.mp4 — 12 frames (4K 3840×2160)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249424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2677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Redimensionamento para 256×256 px, normalização [0,1]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670048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6883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066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Avaliação temporal baseline — 11 pares consecutivos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090672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108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27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8 cenários de degradação sintética + re-avaliação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3511296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5295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478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Análise multi-segmento: 5 janelas de 8 frames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3931920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95020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68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Comparação input vs. inpainted (cv2.inpaint TELEA)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4352544"/>
            <a:ext cx="274320" cy="27432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4370831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Relatório HTML automático + ZIP de artefatos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754880"/>
            <a:ext cx="11548872" cy="5029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Ambiente:  Google Colab   |   GPU Tesla T4 · 14.56 GB VRAM   |   Python 3.12 · PyTorch 2.10 · CUDA 12.8   |   lpips 0.1.4 · scikit-image · opencv-python · mediapy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Resultado baseline — vídeo de entrada (lime/input_video.mp4)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12 frames · 11 pares consecutivos · GPU Tesla T4 · processamento em ≈ 40s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651760" cy="10058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780"/>
                </a:solidFill>
              </a:rPr>
              <a:t>LPIPS 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32D2D"/>
                </a:solidFill>
              </a:rPr>
              <a:t>0.0234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abaixo do limiar perceptual (~0.05)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2651760" cy="10058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780"/>
                </a:solidFill>
              </a:rPr>
              <a:t>Flow Consistency 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A7517"/>
                </a:solidFill>
              </a:rPr>
              <a:t>0.0055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67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próximo de zero — fluxo coerente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417320"/>
            <a:ext cx="2651760" cy="10058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08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780"/>
                </a:solidFill>
              </a:rPr>
              <a:t>PSNR consecutivo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28.61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167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acima de 28 dB — qualidade razoável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417320"/>
            <a:ext cx="3044952" cy="10058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508760"/>
            <a:ext cx="2770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780"/>
                </a:solidFill>
              </a:rPr>
              <a:t>SSIM consecutivo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737360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5FA5"/>
                </a:solidFill>
              </a:rPr>
              <a:t>0.9277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67128"/>
            <a:ext cx="2770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preservação estrutural consistente (máx=1)</a:t>
            </a:r>
          </a:p>
        </p:txBody>
      </p:sp>
      <p:pic>
        <p:nvPicPr>
          <p:cNvPr id="23" name="Picture 22" descr="frame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0"/>
            <a:ext cx="6583680" cy="23317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040880" y="2560320"/>
            <a:ext cx="4828032" cy="2331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651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Observações sobre o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97180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LPIPS 0.023 &lt; limiar humano (0.05–0.10): estabilidade perceptual confirmada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35584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Flow L1 ≈ 0.006: erro de fluxo óptico próximo de zero em todos os pares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3989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PSNR 28.6 dB: nível aceitável para vídeo de alta qualidade com 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12394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SSIM 0.928: alta preservação estrutural entre frames adjacentes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50799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Anomalia detectada: par índice 10 → LPIPS com z &gt; 2.0 (transição abrupta no final — esperado em vídeos de ação)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83480"/>
            <a:ext cx="54864" cy="59436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4" y="4983480"/>
            <a:ext cx="11494008" cy="594360"/>
          </a:xfrm>
          <a:prstGeom prst="rect">
            <a:avLst/>
          </a:prstGeom>
          <a:solidFill>
            <a:srgbClr val="E6F1F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74920"/>
            <a:ext cx="11228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5FA5"/>
                </a:solidFill>
              </a:rPr>
              <a:t>Todas as 4 métricas foram calculadas corretamente na GPU real — confirmando execução funcional do módulo no ambiente VOID.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Sensibilidade — degradações sintéticas (8 cenários)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Valida que as métricas detectam variações de qualidade mesmo sem o pipeline de difusão do VOID</a:t>
            </a:r>
          </a:p>
        </p:txBody>
      </p:sp>
      <p:pic>
        <p:nvPicPr>
          <p:cNvPr id="7" name="Picture 6" descr="metricas_degradacoes_sinte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03504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463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780"/>
                </a:solidFill>
              </a:rPr>
              <a:t>Cenário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32D2D"/>
                </a:solidFill>
              </a:rPr>
              <a:t>LPIPS↓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A7517"/>
                </a:solidFill>
              </a:rPr>
              <a:t>Flow L1↓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PSNR↑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5FA5"/>
                </a:solidFill>
              </a:rPr>
              <a:t>SSIM↑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737360"/>
            <a:ext cx="5650992" cy="18288"/>
          </a:xfrm>
          <a:prstGeom prst="rect">
            <a:avLst/>
          </a:prstGeom>
          <a:solidFill>
            <a:srgbClr val="88878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783080"/>
            <a:ext cx="5650992" cy="384048"/>
          </a:xfrm>
          <a:prstGeom prst="rect">
            <a:avLst/>
          </a:prstGeom>
          <a:solidFill>
            <a:srgbClr val="F1EFE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562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Sem degradação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0.0234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0.0055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85623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28.61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185623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0.9277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167128"/>
            <a:ext cx="5650992" cy="3840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240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Ruído σ=0.02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2402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0.0455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2402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0.0236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2402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26.51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22402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0.6487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551176"/>
            <a:ext cx="5650992" cy="384048"/>
          </a:xfrm>
          <a:prstGeom prst="rect">
            <a:avLst/>
          </a:prstGeom>
          <a:solidFill>
            <a:srgbClr val="F1EFE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243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Ruído σ=0.05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624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0.0987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624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0.0532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26243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21.88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26243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0.3029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935224"/>
            <a:ext cx="5650992" cy="3840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008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Ruído σ=0.10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0083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0.1577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0083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0.0991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30083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16.76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30083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</a:rPr>
              <a:t>0.1344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319272"/>
            <a:ext cx="5650992" cy="384048"/>
          </a:xfrm>
          <a:prstGeom prst="rect">
            <a:avLst/>
          </a:prstGeom>
          <a:solidFill>
            <a:srgbClr val="F1EFE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924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JPEG q=50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3924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0.0336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3924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0.0084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33924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28.48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33924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0.9127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3703320"/>
            <a:ext cx="5650992" cy="3840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776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JPEG q=20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776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0.0444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3776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0.0092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37764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28.38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37764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7517"/>
                </a:solidFill>
              </a:rPr>
              <a:t>0.9048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4087368"/>
            <a:ext cx="5650992" cy="384048"/>
          </a:xfrm>
          <a:prstGeom prst="rect">
            <a:avLst/>
          </a:prstGeom>
          <a:solidFill>
            <a:srgbClr val="F1EFE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160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Blur k=3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160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0.0219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4160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0.0050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4160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29.96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4160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0.9403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60" y="4471416"/>
            <a:ext cx="5650992" cy="3840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5445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Blur k=7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4544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0.0200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4544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0.0053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40" y="45445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31.58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45445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9E75"/>
                </a:solidFill>
              </a:rPr>
              <a:t>0.9530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983480"/>
            <a:ext cx="54864" cy="68580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4904" y="4983480"/>
            <a:ext cx="11494008" cy="685800"/>
          </a:xfrm>
          <a:prstGeom prst="rect">
            <a:avLst/>
          </a:prstGeom>
          <a:solidFill>
            <a:srgbClr val="E6F1F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74920"/>
            <a:ext cx="11228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5FA5"/>
                </a:solidFill>
              </a:rPr>
              <a:t>Insight sobre blur: ao suavizar variações de alta frequência entre frames, o blur MELHORA PSNR e SSIM — frames consecutivos ficam mais parecidos. Isso é fisicamente correto, não um erro das métricas.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Sensibilidade — visualização gráfica das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Cada barra = um cenário; as métricas seguem o comportamento esperado monotonicamente</a:t>
            </a:r>
          </a:p>
        </p:txBody>
      </p:sp>
      <p:pic>
        <p:nvPicPr>
          <p:cNvPr id="7" name="Picture 6" descr="metricas_inpu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8580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417320"/>
            <a:ext cx="4462272" cy="41148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508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</a:rPr>
              <a:t>Análise por tipo de degradação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920240"/>
            <a:ext cx="54864" cy="685800"/>
          </a:xfrm>
          <a:prstGeom prst="rect">
            <a:avLst/>
          </a:prstGeom>
          <a:solidFill>
            <a:srgbClr val="A32D2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32D2D"/>
                </a:solidFill>
              </a:rPr>
              <a:t>LPIPS (↓ melhor)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19456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Cresce monotonicamente com ruído: baseline 0.023 → máx 0.158 (+6.7×). JPEG tem impacto leve. Blur reduz ligeiramente.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2834640"/>
            <a:ext cx="54864" cy="685800"/>
          </a:xfrm>
          <a:prstGeom prst="rect">
            <a:avLst/>
          </a:prstGeom>
          <a:solidFill>
            <a:srgbClr val="BA751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834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A7517"/>
                </a:solidFill>
              </a:rPr>
              <a:t>Flow L1 (↓ melhor)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0896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Sobe com ruído e JPEG (inconsistência temporal). Para blur fica ABAIXO do baseline — suavização reduz variação de fluxo.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3749039"/>
            <a:ext cx="54864" cy="685800"/>
          </a:xfrm>
          <a:prstGeom prst="rect">
            <a:avLst/>
          </a:prstGeom>
          <a:solidFill>
            <a:srgbClr val="1D9E7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7490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</a:rPr>
              <a:t>PSNR (↑ melhor)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023359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Cai com ruído: 28.6 → 16.8 dB (-11.8 dB). Blur SOBE: 29.96 e 31.58 dB (k=3 e k=7) — suavização aumenta similaridade.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4663440"/>
            <a:ext cx="54864" cy="68580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6634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</a:rPr>
              <a:t>SSIM (↑ melhor)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937759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Mais sensível ao ruído: 0.928 → 0.134 no cenário máximo. Blur sobe para 0.940 e 0.953. JPEG: impacto leve.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Comparação input vs. output: deleção de objeto com OpenCV inpainting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Responde ao feedback do professor: "usar resultados de deleção de objetos para avaliar coerência das métricas"</a:t>
            </a:r>
          </a:p>
        </p:txBody>
      </p:sp>
      <p:pic>
        <p:nvPicPr>
          <p:cNvPr id="7" name="Picture 6" descr="comparacao_input_vs_inpainted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858000" cy="2423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417320"/>
            <a:ext cx="4462272" cy="242316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5087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</a:rPr>
              <a:t>Método: cv2.inpaint (TELEA)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288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Vídeo original: 4K (3840×2160), 12 frames
• Máscara: retângulo central 432×960 px = 5% da área
• Algoritmo TELEA: propaga informação de borda para dentro
• Aplicado frame a frame → vídeo inpainted completo
• Simula o que o VOID faria ao deletar a mão em movimento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2004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Linha superior: original
Linha inferior: inpainted
Retângulo vermelho = região mascarada</a:t>
            </a:r>
          </a:p>
        </p:txBody>
      </p:sp>
      <p:pic>
        <p:nvPicPr>
          <p:cNvPr id="12" name="Picture 11" descr="comparacao_metricas_input_vs_inpain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13632"/>
            <a:ext cx="6858000" cy="26060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06640" y="3913632"/>
            <a:ext cx="4462272" cy="26060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00507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</a:rPr>
              <a:t>Resultados — Input vs. Inpainted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343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LPIPS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43434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0.0234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43434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A7517"/>
                </a:solidFill>
              </a:rPr>
              <a:t>0.0236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43434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A7517"/>
                </a:solidFill>
              </a:rPr>
              <a:t>+0.0002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8737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Flow Consistency 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8737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0.0055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48737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A7517"/>
                </a:solidFill>
              </a:rPr>
              <a:t>0.0059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48737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A7517"/>
                </a:solidFill>
              </a:rPr>
              <a:t>+0.0004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4041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PSNR consecutivo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54041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28.61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54041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28.95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540410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+0.34 dB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9344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SSIM consecutivo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5934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0.9277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5934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0.9296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593445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9E75"/>
                </a:solidFill>
              </a:rPr>
              <a:t>+0.0019 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Análise multi-segmento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2A9"/>
                </a:solidFill>
              </a:rPr>
              <a:t>5 janelas de 8 frames ao longo do clipe — variação natural de complexidade temporal</a:t>
            </a:r>
          </a:p>
        </p:txBody>
      </p:sp>
      <p:pic>
        <p:nvPicPr>
          <p:cNvPr id="7" name="Picture 6" descr="metricas_multi_seg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77240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17320"/>
            <a:ext cx="3547872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</a:rPr>
              <a:t>Por que análise multi-segmento?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20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Verifica que o módulo captura propriedades reais do conteúdo — não apenas artefatos de medição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3042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Segmentos com mais movimento → LPIPS e Flow L1 altos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88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Segmentos mais estáticos → PSNR e SSIM próximos do máximo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0723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Variação entre janelas é esperada e confirma sensibilidade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4564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5 segmentos × 7 pares = 35 avaliações ao longo do clipe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840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• Resultados exportados em 5 pares de JSON+CSV rastreáveis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26280"/>
            <a:ext cx="54864" cy="685800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" y="4526280"/>
            <a:ext cx="11494008" cy="685800"/>
          </a:xfrm>
          <a:prstGeom prst="rect">
            <a:avLst/>
          </a:prstGeom>
          <a:solidFill>
            <a:srgbClr val="E6F1F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11228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5FA5"/>
                </a:solidFill>
              </a:rPr>
              <a:t>A variação entre segmentos confirma que o módulo é sensível ao conteúdo do vídeo — pré-requisito para uso em comparação real de configurações do VOID (Pass 1 vs. Pass 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780"/>
                </a:solidFill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Conclusão e trabalhos futuros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486400" cy="107899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57200" cy="107899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Módulo temporal_metrics.py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 métricas, fallback Farneback, detecção de anomalias, relatório HTML, JSON/CSV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1417320"/>
            <a:ext cx="5486400" cy="107899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59" y="1417320"/>
            <a:ext cx="457200" cy="107899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Validação funcional no 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Execução correta na GPU Tesla T4 com o vídeo de exemplo real do repositório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5486400" cy="107899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587752"/>
            <a:ext cx="457200" cy="107899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953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79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Análise de sensibilidade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449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8 cenários de degradação sintética confirmam resposta monotônica das métricas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59" y="2587752"/>
            <a:ext cx="5486400" cy="107899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59" y="2587752"/>
            <a:ext cx="457200" cy="107899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2953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399" y="2679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Análise multi-segmento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399" y="30449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 janelas de 8 frames revelam variação natural de complexidade temporal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758184"/>
            <a:ext cx="5486400" cy="107899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758184"/>
            <a:ext cx="457200" cy="1078992"/>
          </a:xfrm>
          <a:prstGeom prst="rect">
            <a:avLst/>
          </a:prstGeom>
          <a:solidFill>
            <a:srgbClr val="185FA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1239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849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</a:rPr>
              <a:t>Input vs. inpainted (OpenCV)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21538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Comparação direta com deleção real valida coerência — responde ao feedback da VA1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94760"/>
            <a:ext cx="11548872" cy="731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67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2D2D"/>
                </a:solidFill>
              </a:rPr>
              <a:t>Limitação: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67912"/>
            <a:ext cx="9921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Pipeline completo do VOID exige ≥ 12 GB VRAM. Colab gratuito (T4, 14.56 GB) resulta em OOM (exit code 137) ao carregar pesos de difusão (~11 GB/passagem). Inpainting OpenCV supre a lacuna com substituto funcional.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17720"/>
            <a:ext cx="11548872" cy="18288"/>
          </a:xfrm>
          <a:prstGeom prst="rect">
            <a:avLst/>
          </a:prstGeom>
          <a:solidFill>
            <a:srgbClr val="88878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Trabalhos futuros: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→  Executar VOID completo em Colab Pro (A100) ou Kaggle (≥24 GB VRAM)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→  Comparar Pass 1 vs. Pass 2 quantitativamente com as métricas implementadas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4132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→  Estender para múltiplos vídeos e tipos de cena (câmera em movimento, múltiplos objetos)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54132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→  Adicionar métricas de referência completa: FID temporal e LPIPS contra ground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